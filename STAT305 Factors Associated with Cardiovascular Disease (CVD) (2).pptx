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302" r:id="rId6"/>
    <p:sldId id="303" r:id="rId7"/>
    <p:sldId id="308" r:id="rId8"/>
    <p:sldId id="309" r:id="rId9"/>
    <p:sldId id="316" r:id="rId10"/>
    <p:sldId id="317" r:id="rId11"/>
    <p:sldId id="318" r:id="rId12"/>
    <p:sldId id="319" r:id="rId13"/>
    <p:sldId id="321" r:id="rId14"/>
    <p:sldId id="315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96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  <p15:guide id="4" orient="horz" pos="3552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7" pos="4032" userDrawn="1">
          <p15:clr>
            <a:srgbClr val="A4A3A4"/>
          </p15:clr>
        </p15:guide>
        <p15:guide id="9" pos="3648" userDrawn="1">
          <p15:clr>
            <a:srgbClr val="A4A3A4"/>
          </p15:clr>
        </p15:guide>
        <p15:guide id="10" orient="horz" pos="1536" userDrawn="1">
          <p15:clr>
            <a:srgbClr val="A4A3A4"/>
          </p15:clr>
        </p15:guide>
        <p15:guide id="11" orient="horz" pos="18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5701"/>
  </p:normalViewPr>
  <p:slideViewPr>
    <p:cSldViewPr>
      <p:cViewPr varScale="1">
        <p:scale>
          <a:sx n="109" d="100"/>
          <a:sy n="109" d="100"/>
        </p:scale>
        <p:origin x="120" y="1062"/>
      </p:cViewPr>
      <p:guideLst>
        <p:guide pos="7296"/>
        <p:guide pos="384"/>
        <p:guide orient="horz" pos="528"/>
        <p:guide orient="horz" pos="3552"/>
        <p:guide orient="horz" pos="768"/>
        <p:guide pos="4032"/>
        <p:guide pos="3648"/>
        <p:guide orient="horz" pos="1536"/>
        <p:guide orient="horz"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88E34-8C8C-8747-BADB-40E1ACC00129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E5FCA-B2DD-C941-A2C1-6389394334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9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E5FCA-B2DD-C941-A2C1-6389394334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00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24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4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50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7" y="2441448"/>
            <a:ext cx="10972800" cy="304495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9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anchor="t"/>
          <a:lstStyle>
            <a:lvl1pPr algn="l">
              <a:lnSpc>
                <a:spcPct val="100000"/>
              </a:lnSpc>
              <a:defRPr sz="2800" cap="none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240" y="4232475"/>
            <a:ext cx="5775960" cy="333945"/>
          </a:xfrm>
        </p:spPr>
        <p:txBody>
          <a:bodyPr/>
          <a:lstStyle>
            <a:lvl1pPr marL="0" indent="0">
              <a:buNone/>
              <a:defRPr sz="1800" spc="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”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3087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2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5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2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5157787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5157787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438400"/>
            <a:ext cx="5183188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2871216"/>
            <a:ext cx="5183188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740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740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880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880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8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55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1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&lt;##&gt;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1" r:id="rId4"/>
    <p:sldLayoutId id="2147483662" r:id="rId5"/>
    <p:sldLayoutId id="2147483665" r:id="rId6"/>
    <p:sldLayoutId id="2147483669" r:id="rId7"/>
    <p:sldLayoutId id="2147483658" r:id="rId8"/>
    <p:sldLayoutId id="2147483666" r:id="rId9"/>
    <p:sldLayoutId id="2147483668" r:id="rId10"/>
    <p:sldLayoutId id="2147483670" r:id="rId11"/>
    <p:sldLayoutId id="2147483653" r:id="rId12"/>
    <p:sldLayoutId id="2147483667" r:id="rId13"/>
    <p:sldLayoutId id="2147483661" r:id="rId14"/>
    <p:sldLayoutId id="2147483660" r:id="rId15"/>
    <p:sldLayoutId id="2147483655" r:id="rId16"/>
    <p:sldLayoutId id="2147483659" r:id="rId17"/>
    <p:sldLayoutId id="2147483656" r:id="rId18"/>
    <p:sldLayoutId id="2147483657" r:id="rId19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460" y="1700808"/>
            <a:ext cx="9721080" cy="2376264"/>
          </a:xfrm>
        </p:spPr>
        <p:txBody>
          <a:bodyPr/>
          <a:lstStyle/>
          <a:p>
            <a:r>
              <a:rPr lang="en-GB" sz="5400" dirty="0"/>
              <a:t>Factors Associated with Cardiovascular Disease (CVD)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5" y="4077072"/>
            <a:ext cx="10040112" cy="360040"/>
          </a:xfrm>
        </p:spPr>
        <p:txBody>
          <a:bodyPr/>
          <a:lstStyle/>
          <a:p>
            <a:r>
              <a:rPr lang="en-GB" dirty="0">
                <a:latin typeface="Bell MT" panose="02020503060305020303" pitchFamily="18" charset="0"/>
              </a:rPr>
              <a:t>Statistical Analysis of Clinical and Demographic Variables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FC46FD9-4132-C248-AB2E-4A4B781262BE}"/>
              </a:ext>
            </a:extLst>
          </p:cNvPr>
          <p:cNvSpPr txBox="1">
            <a:spLocks/>
          </p:cNvSpPr>
          <p:nvPr/>
        </p:nvSpPr>
        <p:spPr>
          <a:xfrm>
            <a:off x="1235460" y="4463825"/>
            <a:ext cx="10040112" cy="1728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 spc="5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spc="5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spc="5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spc="5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spc="5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b="0" dirty="0">
                <a:latin typeface="Bell MT" panose="02020503060305020303" pitchFamily="18" charset="0"/>
              </a:rPr>
              <a:t>GROUP C MEMBERS: </a:t>
            </a:r>
            <a:br>
              <a:rPr lang="en-US" sz="1400" b="0" dirty="0">
                <a:latin typeface="Bell MT" panose="02020503060305020303" pitchFamily="18" charset="0"/>
              </a:rPr>
            </a:br>
            <a:r>
              <a:rPr lang="en-US" sz="1400" b="0" dirty="0">
                <a:latin typeface="Bell MT" panose="02020503060305020303" pitchFamily="18" charset="0"/>
              </a:rPr>
              <a:t>Leilah Beth Colley – 206520938</a:t>
            </a:r>
          </a:p>
          <a:p>
            <a:r>
              <a:rPr lang="en-US" sz="1400" b="0" dirty="0">
                <a:latin typeface="Bell MT" panose="02020503060305020303" pitchFamily="18" charset="0"/>
              </a:rPr>
              <a:t>Zoe Cassidy John – 223043739</a:t>
            </a:r>
          </a:p>
          <a:p>
            <a:r>
              <a:rPr lang="en-US" sz="1400" b="0" dirty="0" err="1">
                <a:latin typeface="Bell MT" panose="02020503060305020303" pitchFamily="18" charset="0"/>
              </a:rPr>
              <a:t>Simiso</a:t>
            </a:r>
            <a:r>
              <a:rPr lang="en-US" sz="1400" b="0" dirty="0">
                <a:latin typeface="Bell MT" panose="02020503060305020303" pitchFamily="18" charset="0"/>
              </a:rPr>
              <a:t> Mbokazi – 222073091</a:t>
            </a:r>
          </a:p>
          <a:p>
            <a:r>
              <a:rPr lang="en-US" sz="1400" b="0" dirty="0" err="1">
                <a:latin typeface="Bell MT" panose="02020503060305020303" pitchFamily="18" charset="0"/>
              </a:rPr>
              <a:t>Ghyandra</a:t>
            </a:r>
            <a:r>
              <a:rPr lang="en-US" sz="1400" b="0" dirty="0">
                <a:latin typeface="Bell MT" panose="02020503060305020303" pitchFamily="18" charset="0"/>
              </a:rPr>
              <a:t> Naidoo – 223078134</a:t>
            </a:r>
          </a:p>
          <a:p>
            <a:endParaRPr lang="en-US" sz="1400" b="0" dirty="0">
              <a:latin typeface="Bell MT" panose="02020503060305020303" pitchFamily="18" charset="0"/>
            </a:endParaRPr>
          </a:p>
          <a:p>
            <a:endParaRPr lang="en-US" sz="1400" b="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EB0709-AF51-A6D3-0CAF-9EAF1A7F2DF4}"/>
              </a:ext>
            </a:extLst>
          </p:cNvPr>
          <p:cNvSpPr/>
          <p:nvPr/>
        </p:nvSpPr>
        <p:spPr>
          <a:xfrm>
            <a:off x="2495600" y="1037934"/>
            <a:ext cx="7416860" cy="479877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F4EFB8-B32B-E305-CA40-1BDEF9E3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354" y="1310554"/>
            <a:ext cx="1451964" cy="764704"/>
          </a:xfrm>
        </p:spPr>
        <p:txBody>
          <a:bodyPr/>
          <a:lstStyle/>
          <a:p>
            <a:r>
              <a:rPr lang="en-US" b="0" dirty="0">
                <a:latin typeface="Bell MT" panose="02020503060305020303" pitchFamily="18" charset="0"/>
              </a:rPr>
              <a:t>AIM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640A05-A075-B6F7-8485-59230584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HEART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2EF04-C343-BFD2-AB41-A620630757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08354" y="2075258"/>
            <a:ext cx="6372022" cy="32259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>
                <a:latin typeface="Bell MT" panose="02020503060305020303" pitchFamily="18" charset="0"/>
              </a:rPr>
              <a:t>Identify factors associated with cardiovascular disease (CVD)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>
                <a:latin typeface="Bell MT" panose="02020503060305020303" pitchFamily="18" charset="0"/>
              </a:rPr>
              <a:t>Examine demographic and clinical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>
                <a:latin typeface="Bell MT" panose="02020503060305020303" pitchFamily="18" charset="0"/>
              </a:rPr>
              <a:t>Determine which significantly influence CVD likelihood</a:t>
            </a:r>
            <a:endParaRPr lang="en-US" b="0" dirty="0">
              <a:latin typeface="Bell MT" panose="020205030603050203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03396-B624-401E-50C6-C0BB01AF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16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0F221A-E1F4-634E-7158-1CB3E8FBDE7B}"/>
              </a:ext>
            </a:extLst>
          </p:cNvPr>
          <p:cNvSpPr/>
          <p:nvPr/>
        </p:nvSpPr>
        <p:spPr>
          <a:xfrm>
            <a:off x="984956" y="1333478"/>
            <a:ext cx="10222088" cy="4120370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775003-C8C2-57FA-C8D5-99577C44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1556792"/>
            <a:ext cx="7992888" cy="495432"/>
          </a:xfrm>
        </p:spPr>
        <p:txBody>
          <a:bodyPr/>
          <a:lstStyle/>
          <a:p>
            <a:pPr algn="l"/>
            <a:r>
              <a:rPr lang="en-US" b="0" dirty="0">
                <a:latin typeface="Bell MT" panose="02020503060305020303" pitchFamily="18" charset="0"/>
              </a:rPr>
              <a:t>DATASET OVERVIEW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4F370C-18BC-A752-2980-6309F5D7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HEART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D67805-CCBD-8182-540F-93068A90C4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7488" y="2204864"/>
            <a:ext cx="9217024" cy="2880320"/>
          </a:xfrm>
        </p:spPr>
        <p:txBody>
          <a:bodyPr/>
          <a:lstStyle/>
          <a:p>
            <a:r>
              <a:rPr lang="en-US" sz="2400" dirty="0">
                <a:latin typeface="Bell MT" panose="02020503060305020303" pitchFamily="18" charset="0"/>
              </a:rPr>
              <a:t>299 patients with demographic &amp; clinical data</a:t>
            </a:r>
          </a:p>
          <a:p>
            <a:r>
              <a:rPr lang="en-US" sz="2400" dirty="0">
                <a:latin typeface="Bell MT" panose="02020503060305020303" pitchFamily="18" charset="0"/>
              </a:rPr>
              <a:t>Variables: age, gender, smoking, anemia, diabetes, high BP, CPK, ejection fraction, platelets, serum sodium</a:t>
            </a:r>
          </a:p>
          <a:p>
            <a:r>
              <a:rPr lang="en-US" sz="2400" dirty="0">
                <a:latin typeface="Bell MT" panose="02020503060305020303" pitchFamily="18" charset="0"/>
              </a:rPr>
              <a:t>Outcome: presence/absence of CVD</a:t>
            </a:r>
          </a:p>
          <a:p>
            <a:r>
              <a:rPr lang="en-US" sz="2400" dirty="0">
                <a:latin typeface="Bell MT" panose="02020503060305020303" pitchFamily="18" charset="0"/>
              </a:rPr>
              <a:t>CVD = leading global cause of death → motivates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86A75-51DF-087B-EE6E-0899D082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2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B310E6-8780-310B-4F87-436F82445AC2}"/>
              </a:ext>
            </a:extLst>
          </p:cNvPr>
          <p:cNvSpPr/>
          <p:nvPr/>
        </p:nvSpPr>
        <p:spPr>
          <a:xfrm>
            <a:off x="126027" y="1022999"/>
            <a:ext cx="11939945" cy="77031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B4DC82-986E-18CC-1A30-3649D1554730}"/>
              </a:ext>
            </a:extLst>
          </p:cNvPr>
          <p:cNvSpPr/>
          <p:nvPr/>
        </p:nvSpPr>
        <p:spPr>
          <a:xfrm>
            <a:off x="126027" y="1849442"/>
            <a:ext cx="5859303" cy="3600400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E0D28F-15F5-419D-3F03-00FBA701935A}"/>
              </a:ext>
            </a:extLst>
          </p:cNvPr>
          <p:cNvSpPr/>
          <p:nvPr/>
        </p:nvSpPr>
        <p:spPr>
          <a:xfrm>
            <a:off x="6206670" y="1849442"/>
            <a:ext cx="5859303" cy="3600400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5A0AD-52EA-8A3D-00F9-72C649D7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640" y="1082871"/>
            <a:ext cx="8550717" cy="581573"/>
          </a:xfrm>
        </p:spPr>
        <p:txBody>
          <a:bodyPr/>
          <a:lstStyle/>
          <a:p>
            <a:r>
              <a:rPr lang="en-US" b="0" dirty="0">
                <a:latin typeface="Bell MT" panose="02020503060305020303" pitchFamily="18" charset="0"/>
              </a:rPr>
              <a:t>DESCRIPTIVE SUMMARY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08FD8E-3A0A-CCD4-5C2F-5B65BE73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HEART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786B75-8C5A-A01F-F202-D3CB14D3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6E31020-F615-63E5-399F-916214DE5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820" y="2075148"/>
            <a:ext cx="5256584" cy="270770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Bell MT" panose="02020503060305020303" pitchFamily="18" charset="0"/>
              </a:rPr>
              <a:t>Categorical Variables: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27.1% had CVD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64.9% male | 32.1% smokers</a:t>
            </a:r>
          </a:p>
          <a:p>
            <a:pPr marL="0" indent="0">
              <a:buNone/>
            </a:pPr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Anemia 43.1% | Diabetes 41.8% | High BP 35.1%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FABBA54D-4473-0E1D-9F17-91A778E01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5148" y="2034440"/>
            <a:ext cx="5202345" cy="323040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Bell MT" panose="02020503060305020303" pitchFamily="18" charset="0"/>
              </a:rPr>
              <a:t>Quantitative Variables: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Age: mean 60.8 yrs (40–95)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CPK: highly variable, right-skewed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Ejection Fraction: avg 38% → moderately reduced</a:t>
            </a:r>
          </a:p>
          <a:p>
            <a:pPr marL="0" indent="0">
              <a:buNone/>
            </a:pPr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Sodium: stable (mean 136.6 </a:t>
            </a:r>
            <a:r>
              <a:rPr lang="en-US" dirty="0" err="1">
                <a:latin typeface="Bell MT" panose="02020503060305020303" pitchFamily="18" charset="0"/>
              </a:rPr>
              <a:t>mEq</a:t>
            </a:r>
            <a:r>
              <a:rPr lang="en-US" dirty="0">
                <a:latin typeface="Bell MT" panose="02020503060305020303" pitchFamily="18" charset="0"/>
              </a:rPr>
              <a:t>/L)</a:t>
            </a:r>
          </a:p>
          <a:p>
            <a:endParaRPr lang="en-ZA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99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745A-0AB0-8765-9FC5-88B8B789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323456-92EB-DEBC-F185-054A042EDF9F}"/>
              </a:ext>
            </a:extLst>
          </p:cNvPr>
          <p:cNvSpPr/>
          <p:nvPr/>
        </p:nvSpPr>
        <p:spPr>
          <a:xfrm>
            <a:off x="227812" y="1029082"/>
            <a:ext cx="11736373" cy="77031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CEC610-2F0D-968A-627C-CE5C9DCACE47}"/>
              </a:ext>
            </a:extLst>
          </p:cNvPr>
          <p:cNvSpPr/>
          <p:nvPr/>
        </p:nvSpPr>
        <p:spPr>
          <a:xfrm>
            <a:off x="227813" y="1909537"/>
            <a:ext cx="11736373" cy="3919381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A1590-AC3D-D24C-429D-E0311BA0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754" y="1123453"/>
            <a:ext cx="10050488" cy="581573"/>
          </a:xfrm>
        </p:spPr>
        <p:txBody>
          <a:bodyPr/>
          <a:lstStyle/>
          <a:p>
            <a:r>
              <a:rPr lang="en-US" b="0" dirty="0">
                <a:latin typeface="Bell MT" panose="02020503060305020303" pitchFamily="18" charset="0"/>
              </a:rPr>
              <a:t>Chi-Square test results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B66431-4D77-58C1-7091-43EB3D29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HEART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8BA06-800D-4434-5EE2-704CA499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DA15FD5-6425-970D-D594-FA4039AE8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392" y="2088398"/>
            <a:ext cx="10801200" cy="3600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No significant associations (p &gt; 0.05) between CVD and:</a:t>
            </a:r>
          </a:p>
          <a:p>
            <a:r>
              <a:rPr lang="en-US" dirty="0">
                <a:latin typeface="Bell MT" panose="02020503060305020303" pitchFamily="18" charset="0"/>
              </a:rPr>
              <a:t>Anemia</a:t>
            </a:r>
          </a:p>
          <a:p>
            <a:r>
              <a:rPr lang="en-US" dirty="0">
                <a:latin typeface="Bell MT" panose="02020503060305020303" pitchFamily="18" charset="0"/>
              </a:rPr>
              <a:t>Diabetes</a:t>
            </a:r>
          </a:p>
          <a:p>
            <a:r>
              <a:rPr lang="en-US" dirty="0">
                <a:latin typeface="Bell MT" panose="02020503060305020303" pitchFamily="18" charset="0"/>
              </a:rPr>
              <a:t>High Blood Pressure</a:t>
            </a:r>
          </a:p>
          <a:p>
            <a:r>
              <a:rPr lang="en-US" dirty="0">
                <a:latin typeface="Bell MT" panose="02020503060305020303" pitchFamily="18" charset="0"/>
              </a:rPr>
              <a:t>Gender</a:t>
            </a:r>
          </a:p>
          <a:p>
            <a:r>
              <a:rPr lang="en-US" dirty="0">
                <a:latin typeface="Bell MT" panose="02020503060305020303" pitchFamily="18" charset="0"/>
              </a:rPr>
              <a:t>Smoking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➡️ Suggests no single categorical variable alone predicts CVD.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➡️ Leads to logistic regression to control for multiple factors.</a:t>
            </a:r>
            <a:br>
              <a:rPr lang="en-US" dirty="0">
                <a:latin typeface="Bell MT" panose="02020503060305020303" pitchFamily="18" charset="0"/>
              </a:rPr>
            </a:br>
            <a:endParaRPr lang="en-ZA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24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4DF3-5240-16E4-2DA0-5BEDE312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F6A338-C707-B707-6C6F-9528977CB998}"/>
              </a:ext>
            </a:extLst>
          </p:cNvPr>
          <p:cNvSpPr/>
          <p:nvPr/>
        </p:nvSpPr>
        <p:spPr>
          <a:xfrm>
            <a:off x="227812" y="1029082"/>
            <a:ext cx="11736373" cy="77031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D3D1473-2E55-9F84-6333-EF9F2C022F8E}"/>
              </a:ext>
            </a:extLst>
          </p:cNvPr>
          <p:cNvSpPr/>
          <p:nvPr/>
        </p:nvSpPr>
        <p:spPr>
          <a:xfrm>
            <a:off x="246540" y="1909537"/>
            <a:ext cx="11736373" cy="3919381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D1A0F-C413-0C08-A431-2139FB95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43" y="1123453"/>
            <a:ext cx="11189589" cy="581573"/>
          </a:xfrm>
        </p:spPr>
        <p:txBody>
          <a:bodyPr/>
          <a:lstStyle/>
          <a:p>
            <a:r>
              <a:rPr lang="en-US" b="0" dirty="0">
                <a:latin typeface="Bell MT" panose="02020503060305020303" pitchFamily="18" charset="0"/>
              </a:rPr>
              <a:t>LOGISTIC REGRESSION MODEL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D8C090-BA00-FD06-A5B4-98FC3DC1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HEART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A3A247-0FF0-9D77-3D17-2728A678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4F8C83B-97A7-2C0B-716D-15F992564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5397" y="2550854"/>
            <a:ext cx="10801200" cy="26367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Model:</a:t>
            </a:r>
          </a:p>
          <a:p>
            <a:r>
              <a:rPr lang="en-US" dirty="0">
                <a:latin typeface="Bell MT" panose="02020503060305020303" pitchFamily="18" charset="0"/>
              </a:rPr>
              <a:t>logit(P(CVD=Yes)) = </a:t>
            </a:r>
            <a:r>
              <a:rPr lang="el-GR" dirty="0">
                <a:latin typeface="Bell MT" panose="02020503060305020303" pitchFamily="18" charset="0"/>
              </a:rPr>
              <a:t>β₀ + β₁(</a:t>
            </a:r>
            <a:r>
              <a:rPr lang="en-US" dirty="0">
                <a:latin typeface="Bell MT" panose="02020503060305020303" pitchFamily="18" charset="0"/>
              </a:rPr>
              <a:t>age) + </a:t>
            </a:r>
            <a:r>
              <a:rPr lang="el-GR" dirty="0">
                <a:latin typeface="Bell MT" panose="02020503060305020303" pitchFamily="18" charset="0"/>
              </a:rPr>
              <a:t>β₂(</a:t>
            </a:r>
            <a:r>
              <a:rPr lang="en-US" dirty="0">
                <a:latin typeface="Bell MT" panose="02020503060305020303" pitchFamily="18" charset="0"/>
              </a:rPr>
              <a:t>anemia) + … + </a:t>
            </a:r>
            <a:r>
              <a:rPr lang="el-GR" dirty="0">
                <a:latin typeface="Bell MT" panose="02020503060305020303" pitchFamily="18" charset="0"/>
              </a:rPr>
              <a:t>β₁₀(</a:t>
            </a:r>
            <a:r>
              <a:rPr lang="en-US" dirty="0">
                <a:latin typeface="Bell MT" panose="02020503060305020303" pitchFamily="18" charset="0"/>
              </a:rPr>
              <a:t>smoking)</a:t>
            </a:r>
          </a:p>
          <a:p>
            <a:r>
              <a:rPr lang="en-US" dirty="0">
                <a:latin typeface="Bell MT" panose="02020503060305020303" pitchFamily="18" charset="0"/>
              </a:rPr>
              <a:t>Model Significance: p &lt; 0.0001 → at least one predictor matters.</a:t>
            </a:r>
          </a:p>
          <a:p>
            <a:r>
              <a:rPr lang="en-US" dirty="0">
                <a:latin typeface="Bell MT" panose="02020503060305020303" pitchFamily="18" charset="0"/>
              </a:rPr>
              <a:t>Significant Predictors:</a:t>
            </a:r>
          </a:p>
          <a:p>
            <a:r>
              <a:rPr lang="en-US" dirty="0">
                <a:latin typeface="Bell MT" panose="02020503060305020303" pitchFamily="18" charset="0"/>
              </a:rPr>
              <a:t>Age (p = 0.0052)</a:t>
            </a:r>
          </a:p>
          <a:p>
            <a:r>
              <a:rPr lang="en-US" dirty="0">
                <a:latin typeface="Bell MT" panose="02020503060305020303" pitchFamily="18" charset="0"/>
              </a:rPr>
              <a:t>Ejection Fraction (p = 0.0338)</a:t>
            </a:r>
          </a:p>
          <a:p>
            <a:r>
              <a:rPr lang="en-US" dirty="0">
                <a:latin typeface="Bell MT" panose="02020503060305020303" pitchFamily="18" charset="0"/>
              </a:rPr>
              <a:t>Serum Sodium (p &lt; 0.0001)</a:t>
            </a:r>
            <a:endParaRPr lang="en-ZA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831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D320-5E58-93D6-75FF-E8C5377D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714D97-1716-9A89-EEEE-0B7F67D90213}"/>
              </a:ext>
            </a:extLst>
          </p:cNvPr>
          <p:cNvSpPr/>
          <p:nvPr/>
        </p:nvSpPr>
        <p:spPr>
          <a:xfrm>
            <a:off x="227812" y="1029082"/>
            <a:ext cx="11736373" cy="77031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E67E48C-9137-A114-1F00-C5EF19F9E88A}"/>
              </a:ext>
            </a:extLst>
          </p:cNvPr>
          <p:cNvSpPr/>
          <p:nvPr/>
        </p:nvSpPr>
        <p:spPr>
          <a:xfrm>
            <a:off x="246540" y="1909537"/>
            <a:ext cx="11736373" cy="3919381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662A1-23D4-8E91-5986-AC9A042B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43" y="1123453"/>
            <a:ext cx="11261597" cy="581573"/>
          </a:xfrm>
        </p:spPr>
        <p:txBody>
          <a:bodyPr/>
          <a:lstStyle/>
          <a:p>
            <a:r>
              <a:rPr lang="en-US" b="0" dirty="0" err="1">
                <a:latin typeface="Bell MT" panose="02020503060305020303" pitchFamily="18" charset="0"/>
              </a:rPr>
              <a:t>STEpwise</a:t>
            </a:r>
            <a:r>
              <a:rPr lang="en-US" b="0" dirty="0">
                <a:latin typeface="Bell MT" panose="02020503060305020303" pitchFamily="18" charset="0"/>
              </a:rPr>
              <a:t> model refinement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BCE9A33-DA52-B640-5BB0-8A397A43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HEART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EE1288-D081-0983-1FED-B7CF208B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F94D641-924C-0831-A721-0930F784D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9237" y="2230195"/>
            <a:ext cx="10801200" cy="3278064"/>
          </a:xfrm>
        </p:spPr>
        <p:txBody>
          <a:bodyPr/>
          <a:lstStyle/>
          <a:p>
            <a:r>
              <a:rPr lang="en-GB" dirty="0">
                <a:latin typeface="Bell MT" panose="02020503060305020303" pitchFamily="18" charset="0"/>
              </a:rPr>
              <a:t>AIC reduced from 351.3 → 319.1 as predictors added</a:t>
            </a:r>
          </a:p>
          <a:p>
            <a:endParaRPr lang="en-GB" dirty="0">
              <a:latin typeface="Bell MT" panose="02020503060305020303" pitchFamily="18" charset="0"/>
            </a:endParaRPr>
          </a:p>
          <a:p>
            <a:r>
              <a:rPr lang="en-GB" dirty="0">
                <a:latin typeface="Bell MT" panose="02020503060305020303" pitchFamily="18" charset="0"/>
              </a:rPr>
              <a:t>Final model: Age, Ejection Fraction, Serum Sodium</a:t>
            </a:r>
          </a:p>
          <a:p>
            <a:endParaRPr lang="en-GB" dirty="0">
              <a:latin typeface="Bell MT" panose="02020503060305020303" pitchFamily="18" charset="0"/>
            </a:endParaRPr>
          </a:p>
          <a:p>
            <a:r>
              <a:rPr lang="en-GB" dirty="0">
                <a:latin typeface="Bell MT" panose="02020503060305020303" pitchFamily="18" charset="0"/>
              </a:rPr>
              <a:t>Hosmer–</a:t>
            </a:r>
            <a:r>
              <a:rPr lang="en-GB" dirty="0" err="1">
                <a:latin typeface="Bell MT" panose="02020503060305020303" pitchFamily="18" charset="0"/>
              </a:rPr>
              <a:t>Lemeshow</a:t>
            </a:r>
            <a:r>
              <a:rPr lang="en-GB" dirty="0">
                <a:latin typeface="Bell MT" panose="02020503060305020303" pitchFamily="18" charset="0"/>
              </a:rPr>
              <a:t> test: p = 0.6152 → good model fit</a:t>
            </a:r>
          </a:p>
          <a:p>
            <a:endParaRPr lang="en-GB" dirty="0">
              <a:latin typeface="Bell MT" panose="02020503060305020303" pitchFamily="18" charset="0"/>
            </a:endParaRPr>
          </a:p>
          <a:p>
            <a:r>
              <a:rPr lang="en-GB" dirty="0">
                <a:latin typeface="Bell MT" panose="02020503060305020303" pitchFamily="18" charset="0"/>
              </a:rPr>
              <a:t>C-statistic = 0.715 → fair predictive accuracy</a:t>
            </a:r>
          </a:p>
          <a:p>
            <a:endParaRPr lang="en-GB" dirty="0">
              <a:latin typeface="Bell MT" panose="02020503060305020303" pitchFamily="18" charset="0"/>
            </a:endParaRPr>
          </a:p>
          <a:p>
            <a:r>
              <a:rPr lang="en-GB" dirty="0">
                <a:latin typeface="Bell MT" panose="02020503060305020303" pitchFamily="18" charset="0"/>
              </a:rPr>
              <a:t>No overdispersion or influential points</a:t>
            </a:r>
          </a:p>
        </p:txBody>
      </p:sp>
    </p:spTree>
    <p:extLst>
      <p:ext uri="{BB962C8B-B14F-4D97-AF65-F5344CB8AC3E}">
        <p14:creationId xmlns:p14="http://schemas.microsoft.com/office/powerpoint/2010/main" val="2369745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A7C9-0610-8799-E772-0832C103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9ED442-C1CC-AAED-B9D6-51828A8F3109}"/>
              </a:ext>
            </a:extLst>
          </p:cNvPr>
          <p:cNvSpPr/>
          <p:nvPr/>
        </p:nvSpPr>
        <p:spPr>
          <a:xfrm>
            <a:off x="227812" y="1029082"/>
            <a:ext cx="11736373" cy="77031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6850EFF-4682-57CA-5BCD-D260E86339E0}"/>
              </a:ext>
            </a:extLst>
          </p:cNvPr>
          <p:cNvSpPr/>
          <p:nvPr/>
        </p:nvSpPr>
        <p:spPr>
          <a:xfrm>
            <a:off x="246540" y="1909537"/>
            <a:ext cx="11736373" cy="3919381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5E620-AAAE-3E0A-59E1-C4861043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1" y="1058954"/>
            <a:ext cx="11909669" cy="581573"/>
          </a:xfrm>
        </p:spPr>
        <p:txBody>
          <a:bodyPr/>
          <a:lstStyle/>
          <a:p>
            <a:r>
              <a:rPr lang="en-US" b="0" dirty="0">
                <a:latin typeface="Bell MT" panose="02020503060305020303" pitchFamily="18" charset="0"/>
              </a:rPr>
              <a:t>Key Predictors (Odds Ratios)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57216F-4E7C-2AB4-332D-EBC8B9B0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HEART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52C620-354A-FA4E-20AB-06BA3DF3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336330-0DE2-F2E2-06D8-24C45A529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32622"/>
              </p:ext>
            </p:extLst>
          </p:nvPr>
        </p:nvGraphicFramePr>
        <p:xfrm>
          <a:off x="803411" y="2276872"/>
          <a:ext cx="10585177" cy="329473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7599">
                  <a:extLst>
                    <a:ext uri="{9D8B030D-6E8A-4147-A177-3AD203B41FA5}">
                      <a16:colId xmlns:a16="http://schemas.microsoft.com/office/drawing/2014/main" val="1518039986"/>
                    </a:ext>
                  </a:extLst>
                </a:gridCol>
                <a:gridCol w="954978">
                  <a:extLst>
                    <a:ext uri="{9D8B030D-6E8A-4147-A177-3AD203B41FA5}">
                      <a16:colId xmlns:a16="http://schemas.microsoft.com/office/drawing/2014/main" val="3986220856"/>
                    </a:ext>
                  </a:extLst>
                </a:gridCol>
                <a:gridCol w="1072256">
                  <a:extLst>
                    <a:ext uri="{9D8B030D-6E8A-4147-A177-3AD203B41FA5}">
                      <a16:colId xmlns:a16="http://schemas.microsoft.com/office/drawing/2014/main" val="1464254926"/>
                    </a:ext>
                  </a:extLst>
                </a:gridCol>
                <a:gridCol w="2982212">
                  <a:extLst>
                    <a:ext uri="{9D8B030D-6E8A-4147-A177-3AD203B41FA5}">
                      <a16:colId xmlns:a16="http://schemas.microsoft.com/office/drawing/2014/main" val="827813688"/>
                    </a:ext>
                  </a:extLst>
                </a:gridCol>
                <a:gridCol w="4118132">
                  <a:extLst>
                    <a:ext uri="{9D8B030D-6E8A-4147-A177-3AD203B41FA5}">
                      <a16:colId xmlns:a16="http://schemas.microsoft.com/office/drawing/2014/main" val="1411741608"/>
                    </a:ext>
                  </a:extLst>
                </a:gridCol>
              </a:tblGrid>
              <a:tr h="501420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Bell MT" panose="02020503060305020303" pitchFamily="18" charset="0"/>
                        </a:rPr>
                        <a:t>Predictor</a:t>
                      </a:r>
                      <a:endParaRPr lang="en-ZA" sz="1000" dirty="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OddsRatio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95% CI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Bell MT" panose="02020503060305020303" pitchFamily="18" charset="0"/>
                        </a:rPr>
                        <a:t>Significance</a:t>
                      </a:r>
                      <a:endParaRPr lang="en-ZA" sz="1000" dirty="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Interpretation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extLst>
                  <a:ext uri="{0D108BD9-81ED-4DB2-BD59-A6C34878D82A}">
                    <a16:rowId xmlns:a16="http://schemas.microsoft.com/office/drawing/2014/main" val="835300437"/>
                  </a:ext>
                </a:extLst>
              </a:tr>
              <a:tr h="1016026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Age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Bell MT" panose="02020503060305020303" pitchFamily="18" charset="0"/>
                        </a:rPr>
                        <a:t>1.034</a:t>
                      </a:r>
                      <a:endParaRPr lang="en-ZA" sz="1000" dirty="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Bell MT" panose="02020503060305020303" pitchFamily="18" charset="0"/>
                        </a:rPr>
                        <a:t>1.010–1.058</a:t>
                      </a:r>
                      <a:endParaRPr lang="en-ZA" sz="1000" dirty="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Significant (p = 0.0043)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OR &gt; 1, meaning a risk factor. Each additional year of age increases the odds of CVD by ~3.4%.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extLst>
                  <a:ext uri="{0D108BD9-81ED-4DB2-BD59-A6C34878D82A}">
                    <a16:rowId xmlns:a16="http://schemas.microsoft.com/office/drawing/2014/main" val="737815012"/>
                  </a:ext>
                </a:extLst>
              </a:tr>
              <a:tr h="1017734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Ejection Fraction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0.975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0.951–1.000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Bell MT" panose="02020503060305020303" pitchFamily="18" charset="0"/>
                        </a:rPr>
                        <a:t>Significant (p = 0.0494)</a:t>
                      </a:r>
                      <a:endParaRPr lang="en-ZA" sz="1000" dirty="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OR &lt; 1, meaning a protective effect. Each 1% increase in ejection fraction decreases the odds of CVD by ~2.5%.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extLst>
                  <a:ext uri="{0D108BD9-81ED-4DB2-BD59-A6C34878D82A}">
                    <a16:rowId xmlns:a16="http://schemas.microsoft.com/office/drawing/2014/main" val="903485030"/>
                  </a:ext>
                </a:extLst>
              </a:tr>
              <a:tr h="759552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Serum Sodium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0.861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0.805–0.922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Bell MT" panose="02020503060305020303" pitchFamily="18" charset="0"/>
                        </a:rPr>
                        <a:t>Highly significant (p &lt; 0.0001)</a:t>
                      </a:r>
                      <a:endParaRPr lang="en-ZA" sz="100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Bell MT" panose="02020503060305020303" pitchFamily="18" charset="0"/>
                        </a:rPr>
                        <a:t>OR &lt; 1. Each mmol/L increase in serum sodium decreases the odds of CVD by ~13.9%.</a:t>
                      </a:r>
                      <a:endParaRPr lang="en-ZA" sz="1000" dirty="0">
                        <a:effectLst/>
                        <a:latin typeface="Bell MT" panose="020205030603050203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76" marR="57476" marT="0" marB="0" anchor="ctr"/>
                </a:tc>
                <a:extLst>
                  <a:ext uri="{0D108BD9-81ED-4DB2-BD59-A6C34878D82A}">
                    <a16:rowId xmlns:a16="http://schemas.microsoft.com/office/drawing/2014/main" val="1908912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905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9A7B-4879-65ED-FF9A-A4A78C2B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D6AE52-E526-A50F-6EEE-191AC43FA934}"/>
              </a:ext>
            </a:extLst>
          </p:cNvPr>
          <p:cNvSpPr/>
          <p:nvPr/>
        </p:nvSpPr>
        <p:spPr>
          <a:xfrm>
            <a:off x="227812" y="1029082"/>
            <a:ext cx="11736373" cy="77031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DF3C5C-AF7B-70F5-1FEA-21303791416D}"/>
              </a:ext>
            </a:extLst>
          </p:cNvPr>
          <p:cNvSpPr/>
          <p:nvPr/>
        </p:nvSpPr>
        <p:spPr>
          <a:xfrm>
            <a:off x="246540" y="1909537"/>
            <a:ext cx="11736373" cy="3919381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0919B-F677-C73A-C7E7-A4F79E548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1" y="1058954"/>
            <a:ext cx="11909669" cy="581573"/>
          </a:xfrm>
        </p:spPr>
        <p:txBody>
          <a:bodyPr/>
          <a:lstStyle/>
          <a:p>
            <a:r>
              <a:rPr lang="en-US" b="0" dirty="0">
                <a:latin typeface="Bell MT" panose="02020503060305020303" pitchFamily="18" charset="0"/>
              </a:rPr>
              <a:t>Model predictions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915641-59DC-CAF8-9105-8D9DE129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HEART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7FCA11-69E6-E4B0-7ADE-44E9ECD3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FCB845-6835-E931-D333-783B575ED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867501"/>
              </p:ext>
            </p:extLst>
          </p:nvPr>
        </p:nvGraphicFramePr>
        <p:xfrm>
          <a:off x="911424" y="2675042"/>
          <a:ext cx="10153128" cy="284218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73415">
                  <a:extLst>
                    <a:ext uri="{9D8B030D-6E8A-4147-A177-3AD203B41FA5}">
                      <a16:colId xmlns:a16="http://schemas.microsoft.com/office/drawing/2014/main" val="3316603680"/>
                    </a:ext>
                  </a:extLst>
                </a:gridCol>
                <a:gridCol w="884980">
                  <a:extLst>
                    <a:ext uri="{9D8B030D-6E8A-4147-A177-3AD203B41FA5}">
                      <a16:colId xmlns:a16="http://schemas.microsoft.com/office/drawing/2014/main" val="2013546636"/>
                    </a:ext>
                  </a:extLst>
                </a:gridCol>
                <a:gridCol w="884980">
                  <a:extLst>
                    <a:ext uri="{9D8B030D-6E8A-4147-A177-3AD203B41FA5}">
                      <a16:colId xmlns:a16="http://schemas.microsoft.com/office/drawing/2014/main" val="1546714355"/>
                    </a:ext>
                  </a:extLst>
                </a:gridCol>
                <a:gridCol w="1737778">
                  <a:extLst>
                    <a:ext uri="{9D8B030D-6E8A-4147-A177-3AD203B41FA5}">
                      <a16:colId xmlns:a16="http://schemas.microsoft.com/office/drawing/2014/main" val="619591237"/>
                    </a:ext>
                  </a:extLst>
                </a:gridCol>
                <a:gridCol w="2379687">
                  <a:extLst>
                    <a:ext uri="{9D8B030D-6E8A-4147-A177-3AD203B41FA5}">
                      <a16:colId xmlns:a16="http://schemas.microsoft.com/office/drawing/2014/main" val="330249728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957570842"/>
                    </a:ext>
                  </a:extLst>
                </a:gridCol>
              </a:tblGrid>
              <a:tr h="1157983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Observation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CVD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Age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Ejection Fraction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Serum Sodium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Predicted Probability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8808287"/>
                  </a:ext>
                </a:extLst>
              </a:tr>
              <a:tr h="561402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0.61817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798582"/>
                  </a:ext>
                </a:extLst>
              </a:tr>
              <a:tr h="561402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0.23980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1610147"/>
                  </a:ext>
                </a:extLst>
              </a:tr>
              <a:tr h="561402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No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ZA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129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0.67087</a:t>
                      </a:r>
                      <a:endParaRPr lang="en-ZA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9510229"/>
                  </a:ext>
                </a:extLst>
              </a:tr>
            </a:tbl>
          </a:graphicData>
        </a:graphic>
      </p:graphicFrame>
      <p:sp>
        <p:nvSpPr>
          <p:cNvPr id="5" name="Content Placeholder 21">
            <a:extLst>
              <a:ext uri="{FF2B5EF4-FFF2-40B4-BE49-F238E27FC236}">
                <a16:creationId xmlns:a16="http://schemas.microsoft.com/office/drawing/2014/main" id="{7C98DAA7-74A9-4715-1F62-365C7B665E7F}"/>
              </a:ext>
            </a:extLst>
          </p:cNvPr>
          <p:cNvSpPr txBox="1">
            <a:spLocks/>
          </p:cNvSpPr>
          <p:nvPr/>
        </p:nvSpPr>
        <p:spPr>
          <a:xfrm>
            <a:off x="789237" y="2230195"/>
            <a:ext cx="5018731" cy="334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b="0" i="0" kern="1200" spc="1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b="0" i="0" kern="1200" spc="1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b="0" i="0" kern="1200" spc="1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b="0" i="0" kern="1200" spc="1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b="0" i="0" kern="1200" spc="1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Bell MT" panose="02020503060305020303" pitchFamily="18" charset="0"/>
              </a:rPr>
              <a:t>Older age + low ejection fraction → higher risk</a:t>
            </a:r>
          </a:p>
        </p:txBody>
      </p:sp>
    </p:spTree>
    <p:extLst>
      <p:ext uri="{BB962C8B-B14F-4D97-AF65-F5344CB8AC3E}">
        <p14:creationId xmlns:p14="http://schemas.microsoft.com/office/powerpoint/2010/main" val="1094697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DF96-A4AB-E700-1AC6-49229DA9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DEFFAD-24AC-CE71-0291-CBB00BCCDDF3}"/>
              </a:ext>
            </a:extLst>
          </p:cNvPr>
          <p:cNvSpPr/>
          <p:nvPr/>
        </p:nvSpPr>
        <p:spPr>
          <a:xfrm>
            <a:off x="2495600" y="1037934"/>
            <a:ext cx="7416860" cy="4798777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DE7EE9-D7C2-363A-AF76-C04C121D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354" y="1310554"/>
            <a:ext cx="4643830" cy="764704"/>
          </a:xfrm>
        </p:spPr>
        <p:txBody>
          <a:bodyPr/>
          <a:lstStyle/>
          <a:p>
            <a:pPr algn="l"/>
            <a:r>
              <a:rPr lang="en-US" b="0" dirty="0">
                <a:latin typeface="Bell MT" panose="02020503060305020303" pitchFamily="18" charset="0"/>
              </a:rPr>
              <a:t>conclusion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6F6414-41F6-517B-14D2-FC3A35F9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HEART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246349-A946-C18B-DB79-B2E9E4DB60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08354" y="2075258"/>
            <a:ext cx="6372022" cy="3225950"/>
          </a:xfrm>
        </p:spPr>
        <p:txBody>
          <a:bodyPr/>
          <a:lstStyle/>
          <a:p>
            <a:r>
              <a:rPr lang="en-GB" sz="2000" b="0" dirty="0">
                <a:latin typeface="Bell MT" panose="02020503060305020303" pitchFamily="18" charset="0"/>
              </a:rPr>
              <a:t>Significant predictors: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>
                <a:latin typeface="Bell MT" panose="02020503060305020303" pitchFamily="18" charset="0"/>
              </a:rPr>
              <a:t>Age ↑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>
                <a:latin typeface="Bell MT" panose="02020503060305020303" pitchFamily="18" charset="0"/>
              </a:rPr>
              <a:t>Higher Ejection Fraction &amp; Serum Sodium ↓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>
                <a:latin typeface="Bell MT" panose="02020503060305020303" pitchFamily="18" charset="0"/>
              </a:rPr>
              <a:t>Non-significant: Anaemia, Diabetes, High BP, Gender, Smoking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>
                <a:latin typeface="Bell MT" panose="02020503060305020303" pitchFamily="18" charset="0"/>
              </a:rPr>
              <a:t>Model fits data well and provides valuable insight into key risk factors for CVD.</a:t>
            </a:r>
            <a:endParaRPr lang="en-US" sz="2000" b="0" dirty="0">
              <a:latin typeface="Bell MT" panose="020205030603050203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ADCD42-A1A0-7653-B5EC-FB11A7B9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534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7706-EF21-D80B-50D8-EADAF130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BBA2-FE7E-654F-E8B3-6CBDC37D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411802" cy="341892"/>
          </a:xfrm>
        </p:spPr>
        <p:txBody>
          <a:bodyPr/>
          <a:lstStyle/>
          <a:p>
            <a:r>
              <a:rPr lang="en-US" sz="2000" dirty="0"/>
              <a:t>SAS Syntax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589DE2-77E7-87E1-426E-42617DA7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" y="466530"/>
            <a:ext cx="3450689" cy="5650987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CC6C01-13C9-4104-EA7D-DE334481D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560" y="466530"/>
            <a:ext cx="3450689" cy="3246908"/>
          </a:xfrm>
          <a:prstGeom prst="rect">
            <a:avLst/>
          </a:prstGeom>
        </p:spPr>
      </p:pic>
      <p:pic>
        <p:nvPicPr>
          <p:cNvPr id="21" name="Picture 20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EDC1ACAF-D7A9-8AA4-AC34-B5F19BB62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019" y="466530"/>
            <a:ext cx="3450689" cy="1248410"/>
          </a:xfrm>
          <a:prstGeom prst="rect">
            <a:avLst/>
          </a:prstGeom>
        </p:spPr>
      </p:pic>
      <p:pic>
        <p:nvPicPr>
          <p:cNvPr id="23" name="Picture 2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89E59DD-DA84-2229-0340-A0A9DD1FA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8531" y="1814465"/>
            <a:ext cx="4963448" cy="4303052"/>
          </a:xfrm>
          <a:prstGeom prst="rect">
            <a:avLst/>
          </a:prstGeom>
        </p:spPr>
      </p:pic>
      <p:pic>
        <p:nvPicPr>
          <p:cNvPr id="25" name="Picture 24" descr="A screenshot of a computer program">
            <a:extLst>
              <a:ext uri="{FF2B5EF4-FFF2-40B4-BE49-F238E27FC236}">
                <a16:creationId xmlns:a16="http://schemas.microsoft.com/office/drawing/2014/main" id="{5A7CC19E-0652-7FA3-2315-C2786A5BC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7076" y="3789040"/>
            <a:ext cx="3440553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7336" y="2728912"/>
            <a:ext cx="7897328" cy="1400176"/>
          </a:xfrm>
        </p:spPr>
        <p:txBody>
          <a:bodyPr anchor="t">
            <a:noAutofit/>
          </a:bodyPr>
          <a:lstStyle/>
          <a:p>
            <a:pPr algn="l"/>
            <a:r>
              <a:rPr lang="en-US" sz="9600" spc="300" dirty="0">
                <a:ln w="28575">
                  <a:solidFill>
                    <a:schemeClr val="tx1"/>
                  </a:solidFill>
                </a:ln>
                <a:noFill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2773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-Design-TM34316244_Win32_SD_v9" id="{4C371580-6163-46D2-96AA-0DCC330A1B9A}" vid="{FC8D8AFF-D381-4C29-B9DC-A81BA0CD1B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4FA603-F875-4A03-93C9-402691CFAD8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BCCC5ED-FDC5-47FC-8E7E-D334979F14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21B937-7172-47A3-B8EF-010B04CBBB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Droplet design</Template>
  <TotalTime>175</TotalTime>
  <Words>559</Words>
  <Application>Microsoft Office PowerPoint</Application>
  <PresentationFormat>Widescreen</PresentationFormat>
  <Paragraphs>134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Bell MT</vt:lpstr>
      <vt:lpstr>Calibri</vt:lpstr>
      <vt:lpstr>Office Theme</vt:lpstr>
      <vt:lpstr>Factors Associated with Cardiovascular Disease (CVD)</vt:lpstr>
      <vt:lpstr>AIM</vt:lpstr>
      <vt:lpstr>DATASET OVERVIEW</vt:lpstr>
      <vt:lpstr>DESCRIPTIVE SUMMARY</vt:lpstr>
      <vt:lpstr>Chi-Square test results</vt:lpstr>
      <vt:lpstr>LOGISTIC REGRESSION MODEL</vt:lpstr>
      <vt:lpstr>STEpwise model refinement</vt:lpstr>
      <vt:lpstr>Key Predictors (Odds Ratios)</vt:lpstr>
      <vt:lpstr>Model predictions</vt:lpstr>
      <vt:lpstr>conclusion</vt:lpstr>
      <vt:lpstr>SAS Syntax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Maniram</dc:creator>
  <cp:lastModifiedBy>Mihir Maniram</cp:lastModifiedBy>
  <cp:revision>53</cp:revision>
  <dcterms:created xsi:type="dcterms:W3CDTF">2025-10-17T19:10:14Z</dcterms:created>
  <dcterms:modified xsi:type="dcterms:W3CDTF">2025-10-18T12:51:22Z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